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926080"/>
            <a:ext cx="7315200" cy="7315200"/>
          </a:xfrm>
          <a:prstGeom prst="ellipse">
            <a:avLst/>
          </a:prstGeom>
          <a:solidFill>
            <a:srgbClr val="0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5486400" cy="5486400"/>
          </a:xfrm>
          <a:prstGeom prst="ellipse">
            <a:avLst/>
          </a:prstGeom>
          <a:solidFill>
            <a:srgbClr val="0F2A44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4864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621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TRIBUNAL REGIONAL ELEITORAL DO MARANHÃO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 Passo a Passo do Servidor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13232" y="37033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Coletor Web, Transportador Web e Totalização — 2º Teste de Desempenho da Totalização Eleitoral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85800" y="4709160"/>
            <a:ext cx="10607040" cy="18288"/>
          </a:xfrm>
          <a:prstGeom prst="rect">
            <a:avLst/>
          </a:prstGeom>
          <a:solidFill>
            <a:srgbClr val="3D6B96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5029200"/>
            <a:ext cx="1389888" cy="438912"/>
          </a:xfrm>
          <a:prstGeom prst="roundRect">
            <a:avLst>
              <a:gd name="adj" fmla="val 16667"/>
            </a:avLst>
          </a:prstGeom>
          <a:solidFill>
            <a:srgbClr val="0F2A44"/>
          </a:solidFill>
          <a:ln w="12700">
            <a:solidFill>
              <a:srgbClr val="3D6B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02920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30/06/2026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76856" y="5029200"/>
            <a:ext cx="1389888" cy="438912"/>
          </a:xfrm>
          <a:prstGeom prst="roundRect">
            <a:avLst>
              <a:gd name="adj" fmla="val 16667"/>
            </a:avLst>
          </a:prstGeom>
          <a:solidFill>
            <a:srgbClr val="0F2A44"/>
          </a:solidFill>
          <a:ln w="12700">
            <a:solidFill>
              <a:srgbClr val="3D6B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76856" y="5029200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02/07/2026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67912" y="5029200"/>
            <a:ext cx="1591056" cy="438912"/>
          </a:xfrm>
          <a:prstGeom prst="roundRect">
            <a:avLst>
              <a:gd name="adj" fmla="val 16667"/>
            </a:avLst>
          </a:prstGeom>
          <a:solidFill>
            <a:srgbClr val="0F2A44"/>
          </a:solidFill>
          <a:ln w="12700">
            <a:solidFill>
              <a:srgbClr val="3D6B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5029200"/>
            <a:ext cx="15910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1 a 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0136" y="5029200"/>
            <a:ext cx="1792224" cy="438912"/>
          </a:xfrm>
          <a:prstGeom prst="roundRect">
            <a:avLst>
              <a:gd name="adj" fmla="val 16667"/>
            </a:avLst>
          </a:prstGeom>
          <a:solidFill>
            <a:srgbClr val="0F2A44"/>
          </a:solidFill>
          <a:ln w="12700">
            <a:solidFill>
              <a:srgbClr val="3D6B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0136" y="5029200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Eleitoral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" y="5989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para quem vai operar o Coletor Web e o Transportador Web pela primeira vez — sem pré-requisitos técnicos.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encontrar neste guia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8196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tudo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1762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teste, datas, horários e a regra de ouro do dia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1600200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85623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49440" y="18196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caminhos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217627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Connect x Coletor Web: quando usar cada um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438144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401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e relatórios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7581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ODIN, SISTOT, relatórios de Ambiente de Votação e Zerésima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3182112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3438144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34381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49440" y="3401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Coletor Web na prática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375818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passos visuais, tela a tela, do zero ao envio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64024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020056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5448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do Coletor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3400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Transportador Web: transmitir e conferir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0" y="4764024"/>
            <a:ext cx="5074920" cy="1417320"/>
          </a:xfrm>
          <a:prstGeom prst="roundRect">
            <a:avLst>
              <a:gd name="adj" fmla="val 5806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5020056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6199632" y="5020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4944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e cuidados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534009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reais da equipe + checklist final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3D6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tudo: contexto e regras do jogo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TDTOT2026-II, quando ele acontece e a regra que ninguém pode esquecer.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TDTOT2026-II e por que ele existe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Contexto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Teste de Desempenho da Totalização. O TSE simula, antes da eleição, o envio e o processamento dos boletins de urna (BU) em massa.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2º teste ("TDTOT II")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já validou a infraestrutura básica; agora o TSE ajusta a capacidade dos servidores para o volume real de uma eleição.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normal ter lentidão ou travamentos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principalmente no primeiro dia do ciclo. O TSE monitora e ajusta a infraestrutura entre um teste e outro.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zona participa em uma janela específica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participação dos Tribunais Regionais, dentro de faixas de horário programadas.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69480" y="1691640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DCE8F5"/>
          </a:solidFill>
          <a:ln/>
        </p:spPr>
      </p:sp>
      <p:sp>
        <p:nvSpPr>
          <p:cNvPr id="8" name="Shape 6"/>
          <p:cNvSpPr/>
          <p:nvPr/>
        </p:nvSpPr>
        <p:spPr>
          <a:xfrm>
            <a:off x="7470648" y="1892808"/>
            <a:ext cx="310896" cy="310896"/>
          </a:xfrm>
          <a:prstGeom prst="ellipse">
            <a:avLst/>
          </a:prstGeom>
          <a:solidFill>
            <a:srgbClr val="3D6B96"/>
          </a:solidFill>
          <a:ln/>
        </p:spPr>
      </p:sp>
      <p:sp>
        <p:nvSpPr>
          <p:cNvPr id="9" name="Text 7"/>
          <p:cNvSpPr/>
          <p:nvPr/>
        </p:nvSpPr>
        <p:spPr>
          <a:xfrm>
            <a:off x="7470648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91272" y="18379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 ·  Por que isso importa para você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91272" y="2148840"/>
            <a:ext cx="35204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está testando se sabe usar o sistema — está ajudando o TSE a validar a infraestrutura para o dia da eleição real. Erros e lentidão fazem parte do teste; o importante é seguir o roteiro certinho.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acontece: datas, ciclos e faixas de horário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Cronograma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37744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1463040"/>
                <a:gridCol w="1463040"/>
                <a:gridCol w="146304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/ Executor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30/06/2026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1º ciclo — TRE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09:00-09:30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09:40-10:10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10:20-10:50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11:00-11:30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30/06/2026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2º ciclo — Zona Eleitoral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13:00-13:30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13:40-14:10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14:20-14:50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15:00-15:30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02/07/2026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1º ciclo — TRE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09:00-09:30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09:40-10:10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10:20-10:50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11:00-11:30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02/07/2026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2º ciclo — Zona Eleitoral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13:00-13:30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13:40-14:10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14:20-14:50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15:00-15:30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343400"/>
            <a:ext cx="5394960" cy="1508760"/>
          </a:xfrm>
          <a:prstGeom prst="roundRect">
            <a:avLst>
              <a:gd name="adj" fmla="val 4848"/>
            </a:avLst>
          </a:prstGeom>
          <a:solidFill>
            <a:srgbClr val="DCE8F5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4544568"/>
            <a:ext cx="310896" cy="310896"/>
          </a:xfrm>
          <a:prstGeom prst="ellipse">
            <a:avLst/>
          </a:prstGeom>
          <a:solidFill>
            <a:srgbClr val="3D6B96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70432" y="44897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 ·  O que é uma "faixa"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70432" y="4800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TSE dividiu os arquivos de cada zona em 4 lotes (faixas) por horário, só para poder cronometrar o teste. Cada faixa deve ser enviada inteira, dentro do seu próprio horário — nunca tudo de uma vez.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434340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6E3E1"/>
          </a:solidFill>
          <a:ln/>
        </p:spPr>
      </p:sp>
      <p:sp>
        <p:nvSpPr>
          <p:cNvPr id="13" name="Shape 10"/>
          <p:cNvSpPr/>
          <p:nvPr/>
        </p:nvSpPr>
        <p:spPr>
          <a:xfrm>
            <a:off x="6327648" y="4544568"/>
            <a:ext cx="310896" cy="310896"/>
          </a:xfrm>
          <a:prstGeom prst="ellipse">
            <a:avLst/>
          </a:prstGeom>
          <a:solidFill>
            <a:srgbClr val="A83A32"/>
          </a:solidFill>
          <a:ln/>
        </p:spPr>
      </p:sp>
      <p:sp>
        <p:nvSpPr>
          <p:cNvPr id="14" name="Text 11"/>
          <p:cNvSpPr/>
          <p:nvPr/>
        </p:nvSpPr>
        <p:spPr>
          <a:xfrm>
            <a:off x="6327648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48272" y="44897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 ·  Dia 03/07 é diferente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48272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sexta-feira (03/07) há um roteiro próprio, sem uso do Coletor. Este guia cobre os dias 30/06 e 02/07, quando o Coletor Web é utilizado.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286000"/>
            <a:ext cx="6400800" cy="6400800"/>
          </a:xfrm>
          <a:prstGeom prst="ellipse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 Nº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transmita quando o TRE der o sinal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9659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sua zona transmitir, o TRE precisa concluir a própria participação no roteiro. Existe um intervalo programado entre o fim da parte do TRE e o início da parte das zonas.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6E3E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27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ACONTECEU NO 1º DIA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5643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zonas transmitiram assim que seu próprio horário chegou, sem aguardar a sinalização. O totalizador já havia recebido a transmissão e não foi mais possível emitir os relatórios ("zerésimas") daquela zona.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E3F1E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7274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056632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Aguarde o aviso oficial no grupo de WhatsApp da equipe antes de iniciar cada faixa — mesmo que o relógio já tenha batido o horário programado. Estar dentro da janela de horário não é o mesmo que estar autorizado a transmitir.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3D6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caminhos de transmissão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Connect e Coletor Web resolvem o mesmo problema de formas diferentes. Entenda quando usar cada um.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Connect x Coletor Web: qual a diferença de verdade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Conceitos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CONNECT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134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tradicional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2 pendrives: um cria uma máquina virtual no computador do colégio; o outro é a chave de segurança.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preciso configurar o computador para iniciar ("dar boot") pelo pendrive — fonte comum de confusão e travamento.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 conectado, o ambiente é igual ao da zona: lê a mídia (MR) e transmite direto para a totalização do TSE.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um operador com algum conhecimento técnico de TI.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3E1BE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COLETOR WEB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3134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novo, mais simples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78892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usa pendrive nem boot especial. É só um endereço (URL) aberto em qualquer navegador.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um computador (ou celular, em teste) com acesso à internet, o título do operador e o PIN.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arquivos NÃO vão direto para a totalização: ficam guardados numa nuvem do TSE, reservada para sua zona.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consegue operar, mesmo sem nenhum conhecimento de TI.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CONCEITO-CHAVE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arquivos chegam à totalização pelo Coletor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Como funciona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22225">
            <a:solidFill>
              <a:srgbClr val="3D6B96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25856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Urna / mídia (MR)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289864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originais da seção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14600" y="24688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6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70632" y="20574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22225">
            <a:solidFill>
              <a:srgbClr val="C98A2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225856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Coletor Web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89864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arquivos e envia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24688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992624" y="20574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22225">
            <a:solidFill>
              <a:srgbClr val="1B3A5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02352" y="225856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Nuvem do TSE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02352" y="289864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passagem da sua zona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58584" y="24688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214616" y="20574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22225">
            <a:solidFill>
              <a:srgbClr val="C98A2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24344" y="225856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Transportador Web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24344" y="289864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na nuvem e lê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80576" y="24688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436608" y="20574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EF3F9"/>
          </a:solidFill>
          <a:ln w="22225">
            <a:solidFill>
              <a:srgbClr val="2E7D53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546336" y="225856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Totalização TSE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46336" y="2898648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final do BU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3E1BE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3995928"/>
            <a:ext cx="310896" cy="3108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70432" y="394106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  ·  O ponto que mais confunde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70432" y="4251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Coletor faz só metade do trabalho: ele leva os arquivos até a nuvem. Alguém ainda precisa usar o Transportador Web para buscar esses arquivos na nuvem e transmiti-los para a totalização — normalmente na sede do cartório.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DCE8F5"/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" y="5184648"/>
            <a:ext cx="310896" cy="310896"/>
          </a:xfrm>
          <a:prstGeom prst="ellipse">
            <a:avLst/>
          </a:prstGeom>
          <a:solidFill>
            <a:srgbClr val="3D6B96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184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70432" y="512978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 ·  Duas mãos, uma tarefa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70432" y="54406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opera o Coletor pode estar em um povoado distante, sem qualificação técnica. Quem opera o Transportador Web pode estar no cartório, cuidando da parte de conferência e transmissão final.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usar o Coletor em vez do JE Connect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Quando usar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Locais de difícil acesso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não há uma pessoa com conhecimento técnico suficiente para operar o JE Connect.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Locais onde faltou técnico qualificado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zona pensava em abrir mão do ponto de transmissão.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já existe notebook do cartório com internet no local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Transportador Web diretamente — o Coletor não traz vantagem nesse caso.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pode transmitir de vários colégios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que não seja ao mesmo tempo (ex.: fazer uma rota, transmitindo local por local).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269480" y="1691640"/>
            <a:ext cx="4343400" cy="1920240"/>
          </a:xfrm>
          <a:prstGeom prst="roundRect">
            <a:avLst>
              <a:gd name="adj" fmla="val 3810"/>
            </a:avLst>
          </a:prstGeom>
          <a:solidFill>
            <a:srgbClr val="F6E3E1"/>
          </a:solidFill>
          <a:ln/>
        </p:spPr>
      </p:sp>
      <p:sp>
        <p:nvSpPr>
          <p:cNvPr id="8" name="Shape 6"/>
          <p:cNvSpPr/>
          <p:nvPr/>
        </p:nvSpPr>
        <p:spPr>
          <a:xfrm>
            <a:off x="7470648" y="1892808"/>
            <a:ext cx="310896" cy="310896"/>
          </a:xfrm>
          <a:prstGeom prst="ellipse">
            <a:avLst/>
          </a:prstGeom>
          <a:solidFill>
            <a:srgbClr val="A83A32"/>
          </a:solidFill>
          <a:ln/>
        </p:spPr>
      </p:sp>
      <p:sp>
        <p:nvSpPr>
          <p:cNvPr id="9" name="Text 7"/>
          <p:cNvSpPr/>
          <p:nvPr/>
        </p:nvSpPr>
        <p:spPr>
          <a:xfrm>
            <a:off x="7470648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91272" y="18379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 ·  Existe limite de uso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91272" y="214884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TSE ainda vai definir quantas sessões de Coletor cada tribunal pode abrir ao mesmo tempo. Por isso, o TRE vai orientar quais pontos usar Coletor e quais usar JE Connect — não é ilimitado.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69480" y="3749040"/>
            <a:ext cx="4343400" cy="2148840"/>
          </a:xfrm>
          <a:prstGeom prst="roundRect">
            <a:avLst>
              <a:gd name="adj" fmla="val 3404"/>
            </a:avLst>
          </a:prstGeom>
          <a:solidFill>
            <a:srgbClr val="DCE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470648" y="3950208"/>
            <a:ext cx="310896" cy="310896"/>
          </a:xfrm>
          <a:prstGeom prst="ellipse">
            <a:avLst/>
          </a:prstGeom>
          <a:solidFill>
            <a:srgbClr val="3D6B96"/>
          </a:solidFill>
          <a:ln/>
        </p:spPr>
      </p:sp>
      <p:sp>
        <p:nvSpPr>
          <p:cNvPr id="14" name="Text 12"/>
          <p:cNvSpPr/>
          <p:nvPr/>
        </p:nvSpPr>
        <p:spPr>
          <a:xfrm>
            <a:off x="7470648" y="3950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91272" y="38953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 ·  Mais lento (por enquanto)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91272" y="420624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teste, a transmissão pelo Coletor foi um pouco mais lenta que pelo Transportador Web direto. O TSE ainda está ajustando a infraestrutura — isso pode mudar até a eleição.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do PIN e do Título Eleitoral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PIN e Título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PIN é individual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pelo TRE e vinculado ao título eleitoral de uma pessoa específica — não é um código genérico da zona.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senha do chefe de cartório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operar o Coletor você precisa apenas do título e do PIN da pessoa cadastrada, nunca de uma senha pessoal.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ser usado em dois lugares ao mesmo tempo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pessoa pode transmitir de um colégio e depois de outro, mas nunca simultaneamente.</a:t>
            </a:r>
            <a:endParaRPr lang="en-US" sz="13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 da eleição, cada operador terá seu próprio PIN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teste, por falta de tempo de cadastro, o PIN foi gerado no título do chefe de cartório para todos usarem — isso não se repete na eleição.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69480" y="1691640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F3E1BE"/>
          </a:solidFill>
          <a:ln/>
        </p:spPr>
      </p:sp>
      <p:sp>
        <p:nvSpPr>
          <p:cNvPr id="8" name="Shape 6"/>
          <p:cNvSpPr/>
          <p:nvPr/>
        </p:nvSpPr>
        <p:spPr>
          <a:xfrm>
            <a:off x="7470648" y="1892808"/>
            <a:ext cx="310896" cy="3108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9" name="Text 7"/>
          <p:cNvSpPr/>
          <p:nvPr/>
        </p:nvSpPr>
        <p:spPr>
          <a:xfrm>
            <a:off x="7470648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91272" y="18379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  ·  Por que essa regra existe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91272" y="2148840"/>
            <a:ext cx="35204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TSE audita quem transmitiu cada arquivo. Cada operador com seu próprio PIN garante rastreabilidade: em caso de dúvida, dá para saber exatamente quem coletou os dados de cada localidade — sem depender de compartilhar senhas.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Preparando os arquivos de teste antes do envio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Preparação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arquivos já vêm organizados por zona e por faixa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TSE disponibilizou tudo dividido (ex.: Zona 66 → Faixa 1, Faixa 2, Faixa 3, Faixa 4), e o TRE-MA baixou e repassou para as zonas.</a:t>
            </a:r>
            <a:endParaRPr lang="en-US" sz="135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faixa tem um horário certo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a pasta inteira daquela faixa, no horário correspondente — nunca envie tudo de uma vez.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6E3E1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3767328"/>
            <a:ext cx="310896" cy="310896"/>
          </a:xfrm>
          <a:prstGeom prst="ellipse">
            <a:avLst/>
          </a:prstGeom>
          <a:solidFill>
            <a:srgbClr val="A83A3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37124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 ·  Se o arquivo estiver compactado (.zip)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4023360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com o botão direito sobre o arquivo → "Extrair tudo". Só depois disso as pastas ficam prontas para seleção no Coletor. Tentar enviar o .zip direto é o erro mais comum nesse passo.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56616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DCE8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327648" y="3767328"/>
            <a:ext cx="310896" cy="310896"/>
          </a:xfrm>
          <a:prstGeom prst="ellipse">
            <a:avLst/>
          </a:prstGeom>
          <a:solidFill>
            <a:srgbClr val="3D6B96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48272" y="37124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 ·  Se já estiver descompactado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48272" y="4023360"/>
            <a:ext cx="4663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arquivos já aparecem como pastas comuns (não como um único arquivo .zip), não é necessário fazer nada — já estão prontos para o próximo passo.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3D6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e relatórios iniciais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coletar qualquer arquivo, é preciso entrar nos sistemas e gerar dois relatórios de referência.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4389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61872" y="7132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ODIN — Acessar o sistema e o ambiente SISTOT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o sistema ODIN 3 no ambiente de Homologação.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acesso de Zona Eleitoral ao sistema SISTOT com perfil Administrador.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E3F1E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final, o SISTOT-Homologação abre e fica pronto para uso.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16550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o ODIN pelo SisDesktop (aba "Sem Fase") ou pelo link odin3-hmg.tse.jus.br/odin.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3774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Título eleitoral e Senha, e clicar em LOGIN.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266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Pleito (Processo 14575 · Pleito 17801), UF e Fase ("TESTE").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37490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37124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 sistema SISTOT-HOMOLOGACAO.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Login e relatórios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4389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61872" y="7132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SISTOT — Selecionar o pleito de teste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o SISTOT já dentro do processo e pleito corretos.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acesso a todas as eleições do processo, dentro do ODIN.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3F1E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do SISTOT fica liberada para navegação nas próximas etapas.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16550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no ícone "Selecionar pleito", no canto superior direito da tela.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3774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Pleito (17801), Perfil (Administrador) e Ambiente (sua zona).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266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SELECIONAR.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Login e relatórios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4389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61872" y="7132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SISTOT — Gerar relatório "Ambiente de Votação"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o relatório do Ambiente de Votação da zona eleitoral.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no pleito e ambiente corretos, já selecionados no passo anterior.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3F1E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gera o relatório com os dados informados.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16550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Menu &gt; Relatórios &gt; Ambiente de Votação.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3774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Zona Eleitoral, Município, Município sede, Nome e Cargo da Autoridade.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266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GERAR RELATÓRIO.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Login e relatórios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4389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61872" y="7132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SISTOT — Gerar relatório Zerésima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o relatório Zerésima, que comprova que nenhum voto foi computado ainda.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no pleito e ambiente corretos, e ainda não ter recebido nenhum arquivo de urna.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3F1E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gera o relatório Zerésima.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16550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Menu &gt; Relatórios &gt; Zerésima.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3774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os campos exigidos.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266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GERAR RELATÓRIO — gere para TODAS as eleições!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Login e relatórios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3D6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Coletor Web na prática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passos visuais, tela a tela — do endereço eletrônico até a confirmação de sucesso.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este bloco está organizado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Caso de Teste 5 do roteiro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"Transportador Web – Coletor – Coletar arquivos de urna", detalhado tela por tela.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slide a seguir mostra a tela real do sistema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uma seta indicando exatamente onde clicar, mais a explicação ao lado.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esses mesmos 15 passos em cada faixa de horário (1, 2, 3 e 4)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muda a pasta selecionada e o horário de envio.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3E1BE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3858768"/>
            <a:ext cx="310896" cy="310896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380390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  ·  Requisitos antes de começar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4114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 em mãos: (1) o endereço do Coletor Web, (2) o título/identificador do operador, (3) o PIN gerado pelo TRE, e (4) a pasta com os arquivos da faixa correspondente, já descompactada.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Acessar o Coletor Web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0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navegador (Chrome ou Firefox), digite o endereço do Coletor: coletor-tdtot.tse.jus.br — no dia da eleição, o endereço oficial será outro, mas a lógica é a mesma.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só um site: não precisa instalar nada nem configurar o computador.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Informar o identificador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campo "Identificador (CPF / Título de Eleitor)", digite o título eleitoral (ou CPF) da pessoa que está operando o Coletor.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sempre o título da pessoa dona do PIN — nunca o de outra pessoa.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Informar o PIN de acesso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campo "PIN de acesso", digite o PIN gerado e enviado pelo TRE para essa zona/operador. O ícone de olho permite conferir os caracteres digitados.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versão de teste, o sistema libera a seleção de arquivo sem exigir um botão de "validar" separado.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a seleção de pasta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0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qualquer ponto da área "Arquivos" (o quadro tracejado) ou diretamente no ícone da pasta, no centro da tela.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ação abre a janela do Windows Explorer para você escolher o que enviar.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Localizar a pasta baixada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Windows Explorer que se abriu, navegue até a pasta onde foram salvos os arquivos enviados pelo TRE-MA (a mesma da observação sobre extrair o .zip).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tentar enviar o arquivo .zip direto. Extraia antes, com "Extrair tudo".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a pasta da sua zona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pasta geral, clique na pasta correspondente à sua zona eleitoral (no exemplo, a zona 66).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o número da zona antes de prosseguir — enviar a pasta errada gera arquivos inválidos.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7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a subpasta "Máquina"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pasta da zona, clique na subpasta "Máquina - 1", que reúne as faixas de horário daquela zona.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 da eleição essa etapa não existe — aqui ela é só para organizar o teste.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7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8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a faixa correta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verá as pastas Faixa 1, Faixa 2, Faixa 3 e Faixa 4. Clique na faixa referente ao horário atual do teste.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 tabela de horários (Parte 1) antes de escolher a faixa.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9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Confirmar a seleção da pasta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clicar na pasta da faixa (ex.: Faixa 1 → 13h00-13h30), ela fica destacada/selecionada. A pasta inteira será enviada, não arquivos individuais.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preciso abrir a pasta e escolher arquivo por arquivo — selecione a pasta e siga em frente.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9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10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Clicar em Enviar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pasta da faixa selecionada, clique no botão "Enviar", no canto inferior da janela do Explorer.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"Enviar" só confirma a pasta escolhida — o envio de fato acontece nos próximos passos.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10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11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Autorizar o navegador a copiar os arquivos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3246120" cy="1828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86200" y="132588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9" name="Image 1" descr="/home/claude/work/imgs/img-01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77640" y="1417320"/>
            <a:ext cx="324612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3310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Firefox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77640" y="33101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abre um aviso de confirmação. No Firefox, clique em "Enviar". No Google Chrome, clique em "Permitir".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5" name="Shape 11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6" name="Text 12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essa autorização, o navegador não consegue ler os arquivos da pasta selecionada.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11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12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Conferir o resumo dos arquivos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1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lê a pasta e mostra um resumo: nome da faixa selecionada e a quantidade de cada tipo de arquivo (bu.dat, hash.dat, imgbu.dat, log.jrz, etc.).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se a quantidade de arquivos parece coerente com o esperado para aquela faixa.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12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13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Clicar em Coletar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conferir o resumo, clique no botão azul "Coletar", no canto inferior direito.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esse clique que inicia de fato o envio para a nuvem do TSE.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13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14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Acompanhar o progresso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1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barra de carregamento mostra o andamento do envio, de 0% a 100%, com a mensagem "Processando... Aguarde a coleta dos arquivos".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feche a aba do navegador nem desligue a internet enquanto a barra estiver em andamento.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14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30352" cy="530352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15 DE 15  ·  COLETOR WEB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70432" y="6217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Conferir a mensagem de sucesso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685800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pic>
        <p:nvPicPr>
          <p:cNvPr id="7" name="Image 0" descr="/home/claude/work/imgs/img-0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67512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1737360"/>
            <a:ext cx="40233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concluir, aparece "Coleta concluída com sucesso" e o Extrato de arquivos coletados, com o total enviado por tipo de arquivo. É possível baixar esse extrato.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7947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E3F1EA"/>
          </a:solidFill>
          <a:ln/>
        </p:spPr>
      </p:sp>
      <p:sp>
        <p:nvSpPr>
          <p:cNvPr id="11" name="Shape 8"/>
          <p:cNvSpPr/>
          <p:nvPr/>
        </p:nvSpPr>
        <p:spPr>
          <a:xfrm>
            <a:off x="7836408" y="3995928"/>
            <a:ext cx="310896" cy="310896"/>
          </a:xfrm>
          <a:prstGeom prst="ellipse">
            <a:avLst/>
          </a:prstGeom>
          <a:solidFill>
            <a:srgbClr val="2E7D53"/>
          </a:solidFill>
          <a:ln/>
        </p:spPr>
      </p:sp>
      <p:sp>
        <p:nvSpPr>
          <p:cNvPr id="12" name="Text 9"/>
          <p:cNvSpPr/>
          <p:nvPr/>
        </p:nvSpPr>
        <p:spPr>
          <a:xfrm>
            <a:off x="783640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57032" y="39410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57032" y="4251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ou baixe o extrato — ele comprova o que foi enviado nessa faixa, caso precise conferir depois.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 — passo 15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Coletor terminou — mas o trabalho ainda não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· Coletor Web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de sucesso confirma só uma coisa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os arquivos chegaram à nuvem reservada da sua zona no TSE.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ainda não estão na totalização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no SISTOT vai enxergar esses boletins até o próximo passo acontecer.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usar o Transportador Web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buscar esses arquivos na nuvem e transmiti-los de fato para a totalização — é o Caso de Teste 6, a seguir.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69480" y="1691640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F6E3E1"/>
          </a:solidFill>
          <a:ln/>
        </p:spPr>
      </p:sp>
      <p:sp>
        <p:nvSpPr>
          <p:cNvPr id="8" name="Shape 6"/>
          <p:cNvSpPr/>
          <p:nvPr/>
        </p:nvSpPr>
        <p:spPr>
          <a:xfrm>
            <a:off x="7470648" y="1892808"/>
            <a:ext cx="310896" cy="310896"/>
          </a:xfrm>
          <a:prstGeom prst="ellipse">
            <a:avLst/>
          </a:prstGeom>
          <a:solidFill>
            <a:srgbClr val="A83A32"/>
          </a:solidFill>
          <a:ln/>
        </p:spPr>
      </p:sp>
      <p:sp>
        <p:nvSpPr>
          <p:cNvPr id="9" name="Text 7"/>
          <p:cNvSpPr/>
          <p:nvPr/>
        </p:nvSpPr>
        <p:spPr>
          <a:xfrm>
            <a:off x="7470648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91272" y="18379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 ·  Erro comum de quem está começando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91272" y="2148840"/>
            <a:ext cx="35204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que, por ter clicado em "Coletar" e visto a mensagem de sucesso, a transmissão já está completa. Sem o Transportador Web, os arquivos ficam parados na nuvem, esperando.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3D6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do Coletor: transmitir e conferir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arquivos na nuvem, use o Transportador Web para transmitir e o SISTOT para conferir o que chegou.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4389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6 · repita para cada faixa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61872" y="7132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Transportador Web — Transmitir arquivos coletados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na nuvem do TSE os arquivos que o Coletor enviou e transmiti-los para a totalização.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autenticado no Transportador Web, com permissão na UF, respeitando os horários da faixa.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E3F1E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atualiza o status dos arquivos e exibe o extrato da transmissão.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16550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Menu &gt; Transmitir &gt; Arquivos coletados.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3774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os filtros e selecionar os arquivos daquela faixa.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266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"Transmitir".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Transportador Web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61872" y="4389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7 · repita para cada faixa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61872" y="71323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Transportador Web — Consultar transmissões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as transmissões já realizadas dos arquivos de urna.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PRÉ-CONDIÇÃO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somente depois de finalizada a transmissão da faixa.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3F1E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exibe a consulta das transmissões feitas por aquele usuário.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16550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Menu &gt; Consultar Transmissões.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3774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Pleito, UF, Município e Zona.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329184" cy="329184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266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na lupa para consultar.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Transportador Web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 8 e 9  ·  REPITA PARA CADA FAIXA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SISTOT — Conferindo o que foi recebido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feitas 30 minutos depois da transmissão de cada faixa, para confirmar que os arquivos chegaram e foram validados.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029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seções — Recebimento de BU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consultar seções com recebimento de BU.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Menu &gt; Consultas &gt; Seção &gt; Recebimento de BU.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95020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Informar UF, marcar "Por zona Eleitoral", preencher Zona e Município.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60857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Filtrar Situação da seção como "Recebida" e clicar em CONSULTAR.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78040" y="2029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Arquivos de Urna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consultar arquivos de urna já validados.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291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Menu &gt; Consultas &gt; Arquivos de Urna.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395020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Informar Município, Zona e Tipo de arquivo.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0" y="460857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Selecionar Situação "Validado" e clicar em CONSULTAR.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SISTOT — conferência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 10 e 11  ·  REPITA PARA CADA FAIXA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SISTOT — Conferindo a totalização e o resultado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consultas do ciclo: confirmam que as seções foram totalizadas e mostram o resultado de votação apurado no teste.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seções — Situação de Totalização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consultar seções já totalizadas.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Menu &gt; Consultas &gt; Seção &gt; Situação de Totalização.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Informar a Eleição, escolher cargo "Majoritário" e CONSULTAR.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65429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Repetir a consulta trocando o cargo para "Proporcional".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78040" y="1965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Consultar Resultado de votação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743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consultar o resultado de votação apurado no teste.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33375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Menu &gt; Consultas &gt; Totalização &gt; Resultado de votação.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399592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Marcar "Por zona Eleitoral"; informar Eleição, Zona, Município e Cargo.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0" y="465429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Clicar na lupa; repetir para todos os cargos.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SISTOT — conferência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CICLO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ciclo se repete 4 vezes por dia de teste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Repetição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Coletar (Coletor)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205740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6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1783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3E1BE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Transmitir (Transportador)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205740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6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Consultar Transmissões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49640" y="205740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6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778240" y="178308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3E1BE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15400" y="17830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Conferir no SISTOT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 esse ciclo completo em cada uma das 4 faixas de horário, todos os dias de teste (30/06 e 02/07), sempre aguardando a sinalização do TRE para começar cada faixa.</a:t>
            </a:r>
            <a:endParaRPr lang="en-US" sz="1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0881360" cy="1828800"/>
        </p:xfrm>
        <a:graphic>
          <a:graphicData uri="http://schemas.openxmlformats.org/drawingml/2006/table">
            <a:tbl>
              <a:tblPr/>
              <a:tblGrid>
                <a:gridCol w="2286000"/>
                <a:gridCol w="4297680"/>
                <a:gridCol w="4297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Horário (Zona Eleitoral)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13:00 – 13:30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Coletar + transmitir + conferir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13:40 – 14:10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Coletar + transmitir + conferir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14:20 – 14:50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Coletar + transmitir + conferir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15:00 – 15:30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Coletar + transmitir + conferir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B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EXCEPCIONAIS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Tratar BU pendente e Retificar tipo de urna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· Casos excepcionais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EEF3F9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947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6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SISTOT — Tratar BU pendente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depois do processamento de todos os arquivos, e apenas se houver situação de BU pendente.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&gt; Gerenciamento &gt; Tratar BU Pendente.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com a situação "Não Processada".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"PROCESSAR BU PENDENTE", inserir a senha da autoridade, informar um motivo com no mínimo 15 caracteres e SALVAR.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3E1BE"/>
          </a:solidFill>
          <a:ln/>
          <a:effectLst>
            <a:outerShdw sx="100000" sy="100000" kx="0" ky="0" algn="bl" rotWithShape="0" blurRad="127000" dist="38100" dir="5400000">
              <a:srgbClr val="0F2A44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947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TESTE 13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22219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SISTOT — Retificar tipo de urna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651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no 1º turno, usando login de Zona Eleitoral, após o recebimento/processamento.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31546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&gt; Gerenciamento &gt; Retificar tipo de urna.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Município, Zona e Seção.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novo tipo "ANULADA", informar o motivo (mín. 15 caracteres), SALVAR, confirmar "SIM" e inserir a senha.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3D6B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 reais e checklist final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977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a própria equipe fez na reunião de alinhamento — e um checklist para levar para o dia do teste.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FREQUENTES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frequentes da equipe (1/2)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 · FAQ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PIN pode ser usado ao mesmo tempo em dois locais diferentes?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O PIN está associado ao título de uma pessoa específica, que não pode estar em dois lugares ao mesmo tempo. A mesma pessoa pode, sim, transmitir de locais diferentes em momentos diferentes.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9535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Coletor manda os arquivos direto para o totalizador do TSE?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319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Ele só coloca os arquivos numa área temporária (nuvem) reservada para a sua zona. É o Transportador Web quem lê essa nuvem e transmite de fato para a totalização.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2394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ter um técnico de TI para usar o Coletor?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4897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Não. Essa é justamente a vantagem do Coletor: qualquer pessoa consegue operar, mesmo sem nenhum conhecimento técnico — diferente do JE Connect, que exige alguém com noção de configuração de boot.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FREQUENTES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frequentes da equipe (2/2)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 · FAQ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7830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usar o Coletor pelo celular?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tese sim, com um cabo USB-C/USB e possível configuração adicional no aparelho — mas isso ainda não foi testado oficialmente, e não há confirmação se será liberado para o dia da eleição.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9535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 mesma mídia duas vezes pelo Coletor causa problema?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319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mesmo tratamento de quando isso acontece no Transportador Web: a segunda leitura não gera pendência nova, mas o ideal é evitar repetir o envio.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12394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Haverá treinamento específico para usar o Coletor?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4897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dia de teste, seguindo este passo a passo, já cumpre esse papel — a ferramenta foi desenhada para ser simples o suficiente para não exigir treinamento formal.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ISSO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675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mais comuns e como evitá-los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 · Erros comuns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03920" y="6519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TDTOT2026-II  ·  Zona Eleitoral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6E3E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Transmitir antes da sinalização do TRE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1762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Aguarde sempre o aviso oficial no grupo, mesmo dentro do horário da sua faixa.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6E3E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enviar o arquivo .zip direto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1762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Extraia ("Extrair tudo") antes de selecionar a pasta no Coletor.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6E3E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a faixa ou zona errada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5478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 número da zona e o horário da faixa antes de clicar em Enviar.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0632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6E3E1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que o Coletor já transmitiu tudo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5478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complete com o Transportador Web — o Coletor só leva até a nuvem.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6E3E1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todos os arquivos de uma vez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9194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Respeite as faixas: envie uma pasta de cada vez, no horário correspondente.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4348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6E3E1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PIN e título com outra pessoa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49194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operador deve usar apenas o próprio PIN, vinculado ao próprio título.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0F2A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NO DIA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final do dia de teste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63150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81965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Título/identificador e PIN do operador em mãos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90195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63150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2552" y="181965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da faixa correspondente já extraída (fora do .zip)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9689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63150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5146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ou notebook com acesso estável à internet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59689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63150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25146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Chrome ou Firefox atualizado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918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63150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320954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senha do ODIN/SISTOT testados com antecedência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2918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63150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2552" y="320954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do grupo de WhatsApp da equipe, para aguardar a sinalização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986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63150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390448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horários das 4 faixas à mão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8678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63150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390448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que o Coletor não substitui o Transportador Web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377440"/>
            <a:ext cx="5943600" cy="5943600"/>
          </a:xfrm>
          <a:prstGeom prst="ellipse">
            <a:avLst/>
          </a:prstGeom>
          <a:solidFill>
            <a:srgbClr val="EEF3F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 CONTATO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 durante o teste?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219456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WhatsApp da equipe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oficial para avisos de sinalização e dúvidas em tempo real durante o teste.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TI do TRE-MA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o teste em tempo real e orienta sobre problemas de infraestrutura ou de sistema.</a:t>
            </a:r>
            <a:endParaRPr lang="en-US" sz="1400" dirty="0"/>
          </a:p>
          <a:p>
            <a:pPr marL="342900" indent="-342900">
              <a:lnSpc>
                <a:spcPct val="112000"/>
              </a:lnSpc>
              <a:buSzPct val="100000"/>
              <a:buChar char="▪"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guia  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consultado a qualquer momento durante o teste — cada passo do Coletor Web está detalhado com imagem real da tela.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10881360" cy="18288"/>
          </a:xfrm>
          <a:prstGeom prst="rect">
            <a:avLst/>
          </a:prstGeom>
          <a:solidFill>
            <a:srgbClr val="D7E1E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teste! Cada faixa concluída corretamente ajuda o TSE a preparar a infraestrutura para a eleição real.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do Coletor Web e Totalização - TDTOT2026-II</dc:title>
  <dc:subject>PptxGenJS Presentation</dc:subject>
  <dc:creator>TRE-MA</dc:creator>
  <cp:lastModifiedBy>TRE-MA</cp:lastModifiedBy>
  <cp:revision>1</cp:revision>
  <dcterms:created xsi:type="dcterms:W3CDTF">2026-07-01T17:40:47Z</dcterms:created>
  <dcterms:modified xsi:type="dcterms:W3CDTF">2026-07-01T17:40:47Z</dcterms:modified>
</cp:coreProperties>
</file>